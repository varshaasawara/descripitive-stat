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1944" autoAdjust="0"/>
  </p:normalViewPr>
  <p:slideViewPr>
    <p:cSldViewPr>
      <p:cViewPr varScale="1">
        <p:scale>
          <a:sx n="53" d="100"/>
          <a:sy n="53" d="100"/>
        </p:scale>
        <p:origin x="123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DCBB1-2741-43FA-8C2C-C02C8906CC51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E3F71-4E29-4CB6-A6F4-26E987FC9C1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7E34-8083-422D-8DD1-854424D3F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47801"/>
            <a:ext cx="7772400" cy="1447800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highlight>
                  <a:srgbClr val="FFFF00"/>
                </a:highlight>
              </a:rPr>
              <a:t>SOLUTION</a:t>
            </a:r>
            <a:r>
              <a:rPr lang="en-IN" dirty="0">
                <a:highlight>
                  <a:srgbClr val="FFFF00"/>
                </a:highlight>
              </a:rPr>
              <a:t> </a:t>
            </a:r>
            <a:br>
              <a:rPr lang="en-IN" dirty="0">
                <a:highlight>
                  <a:srgbClr val="FFFF00"/>
                </a:highlight>
              </a:rPr>
            </a:br>
            <a:br>
              <a:rPr lang="en-IN" dirty="0"/>
            </a:br>
            <a:r>
              <a:rPr lang="en-IN" dirty="0"/>
              <a:t>QUESTION 1                                                 </a:t>
            </a:r>
            <a:br>
              <a:rPr lang="en-IN" dirty="0"/>
            </a:br>
            <a:r>
              <a:rPr lang="en-IN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7AC00-BFBC-4369-8EFE-49221907D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3429000"/>
            <a:ext cx="8077200" cy="3276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 (in dozens): 10, 12, 11, 15, 14, 13, 12</a:t>
            </a:r>
          </a:p>
          <a:p>
            <a:r>
              <a:rPr lang="en-US" b="1" dirty="0"/>
              <a:t>First, arrange in order:</a:t>
            </a:r>
            <a:br>
              <a:rPr lang="en-US" b="1" dirty="0"/>
            </a:br>
            <a:r>
              <a:rPr lang="en-US" b="1" dirty="0"/>
              <a:t>10, 11, 12, 12, 13, 14, 15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Mean (average) = (10 + 12 + 11 + 15 + 14 + 13 + 12) ÷ 7 = 87 ÷ 7 ≈ 12.43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Median = middle value = 12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 = most frequent value = 12 </a:t>
            </a:r>
          </a:p>
          <a:p>
            <a:r>
              <a:rPr lang="en-US" b="1" dirty="0"/>
              <a:t>Most representative value: 12 dozens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66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EF12-C8E4-44DB-95C6-D5BAAA44A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QUESTION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B65E-B363-410A-B89F-E3DA34E7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1066800"/>
            <a:ext cx="8458200" cy="3276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000" dirty="0"/>
          </a:p>
          <a:p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26BC-F61D-4D97-A4B9-A985663A66AE}"/>
              </a:ext>
            </a:extLst>
          </p:cNvPr>
          <p:cNvSpPr txBox="1"/>
          <p:nvPr/>
        </p:nvSpPr>
        <p:spPr>
          <a:xfrm>
            <a:off x="1371600" y="1295400"/>
            <a:ext cx="6934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Marks: 12, 15, 14, 16, 18, 20, 19</a:t>
            </a:r>
          </a:p>
          <a:p>
            <a:endParaRPr lang="en-US" sz="2800" dirty="0"/>
          </a:p>
          <a:p>
            <a:r>
              <a:rPr lang="en-US" sz="2800" b="1" dirty="0"/>
              <a:t>Step 1: Find the mean (average)</a:t>
            </a:r>
            <a:br>
              <a:rPr lang="en-US" sz="2800" dirty="0"/>
            </a:br>
            <a:r>
              <a:rPr lang="en-US" sz="2800" dirty="0"/>
              <a:t>Sum = 12 + 15 + 14 + 16 + 18 + 20 + 19 = </a:t>
            </a:r>
            <a:r>
              <a:rPr lang="en-US" sz="2800" b="1" dirty="0"/>
              <a:t>114</a:t>
            </a:r>
          </a:p>
          <a:p>
            <a:br>
              <a:rPr lang="en-US" sz="2800" dirty="0"/>
            </a:br>
            <a:r>
              <a:rPr lang="en-US" sz="2800" dirty="0"/>
              <a:t>Number of students = 7</a:t>
            </a:r>
          </a:p>
          <a:p>
            <a:endParaRPr lang="en-US" sz="2800" dirty="0"/>
          </a:p>
          <a:p>
            <a:r>
              <a:rPr lang="en-US" sz="2800" dirty="0"/>
              <a:t>Mean = 114 ÷ 7 =</a:t>
            </a:r>
            <a:r>
              <a:rPr lang="en-US" sz="2800" b="1" dirty="0"/>
              <a:t>16.29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7087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601408-4118-45A4-876B-2961264F2871}"/>
              </a:ext>
            </a:extLst>
          </p:cNvPr>
          <p:cNvSpPr txBox="1"/>
          <p:nvPr/>
        </p:nvSpPr>
        <p:spPr>
          <a:xfrm>
            <a:off x="3200400" y="3048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QUESTION 3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ABFCE-6E33-47B0-8B01-808B4F7C58A9}"/>
              </a:ext>
            </a:extLst>
          </p:cNvPr>
          <p:cNvSpPr txBox="1"/>
          <p:nvPr/>
        </p:nvSpPr>
        <p:spPr>
          <a:xfrm>
            <a:off x="533400" y="1058113"/>
            <a:ext cx="6934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= Data (shoe sizes): 7, 8, 9, 8, 8, 10, 7, 9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6661D-1252-44C8-A75C-4101669F9491}"/>
              </a:ext>
            </a:extLst>
          </p:cNvPr>
          <p:cNvSpPr txBox="1"/>
          <p:nvPr/>
        </p:nvSpPr>
        <p:spPr>
          <a:xfrm>
            <a:off x="914400" y="157358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Mode =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910A5-49B2-4F80-9945-89E35A6DBE4A}"/>
              </a:ext>
            </a:extLst>
          </p:cNvPr>
          <p:cNvSpPr txBox="1"/>
          <p:nvPr/>
        </p:nvSpPr>
        <p:spPr>
          <a:xfrm>
            <a:off x="3097877" y="2399464"/>
            <a:ext cx="4322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QUESTION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6F938-2E29-49BD-A311-D6024805204F}"/>
              </a:ext>
            </a:extLst>
          </p:cNvPr>
          <p:cNvSpPr txBox="1"/>
          <p:nvPr/>
        </p:nvSpPr>
        <p:spPr>
          <a:xfrm>
            <a:off x="599902" y="3471570"/>
            <a:ext cx="6934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The Data:</a:t>
            </a:r>
            <a:r>
              <a:rPr lang="en-US" sz="2800" dirty="0"/>
              <a:t> Used car prices:</a:t>
            </a:r>
          </a:p>
          <a:p>
            <a:r>
              <a:rPr lang="en-US" sz="2800" dirty="0"/>
              <a:t> </a:t>
            </a:r>
            <a:r>
              <a:rPr lang="en-US" sz="2800" b="1" dirty="0"/>
              <a:t>[$8,000, $9,500, $10,200, $11,000, $50,000]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AD4FE5-17CA-467D-89BC-CCD606DA1B5B}"/>
              </a:ext>
            </a:extLst>
          </p:cNvPr>
          <p:cNvSpPr txBox="1"/>
          <p:nvPr/>
        </p:nvSpPr>
        <p:spPr>
          <a:xfrm>
            <a:off x="633153" y="4519248"/>
            <a:ext cx="67998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1F1F1F"/>
                </a:solidFill>
                <a:effectLst/>
                <a:latin typeface="Google Sans Flex"/>
              </a:rPr>
              <a:t>THE MIDDLE VALUE WHEN DATA IS ARRANGE 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107DD-7CAE-42FD-A6D3-42D8B63847C5}"/>
              </a:ext>
            </a:extLst>
          </p:cNvPr>
          <p:cNvSpPr txBox="1"/>
          <p:nvPr/>
        </p:nvSpPr>
        <p:spPr>
          <a:xfrm>
            <a:off x="599902" y="569003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Median:</a:t>
            </a:r>
            <a:r>
              <a:rPr lang="en-IN" sz="2800" dirty="0"/>
              <a:t> </a:t>
            </a:r>
            <a:r>
              <a:rPr lang="en-IN" sz="2800" b="1" dirty="0"/>
              <a:t>$10,200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0696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BA5D-65A6-4463-9FB6-E503E9B4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F996-44DE-41A3-A86A-B62BD42A7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56" y="1166019"/>
            <a:ext cx="8530244" cy="54173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 Find the range</a:t>
            </a:r>
            <a:br>
              <a:rPr lang="en-US" dirty="0"/>
            </a:b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Range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= Maximum value − Minimum value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= 40 − 25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=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15 minutes    </a:t>
            </a:r>
          </a:p>
          <a:p>
            <a:pPr marL="0" indent="0">
              <a:buNone/>
            </a:pPr>
            <a:r>
              <a:rPr lang="en-IN" dirty="0"/>
              <a:t>                     </a:t>
            </a:r>
          </a:p>
          <a:p>
            <a:pPr marL="0" indent="0">
              <a:buNone/>
            </a:pPr>
            <a:r>
              <a:rPr lang="en-IN" dirty="0"/>
              <a:t>                             </a:t>
            </a:r>
            <a:r>
              <a:rPr lang="en-IN" sz="4400" dirty="0"/>
              <a:t>QUESTION 6 </a:t>
            </a:r>
          </a:p>
          <a:p>
            <a:pPr marL="0" indent="0">
              <a:buNone/>
            </a:pPr>
            <a:endParaRPr lang="en-IN" sz="4400" dirty="0"/>
          </a:p>
          <a:p>
            <a:pPr algn="l"/>
            <a:r>
              <a:rPr lang="en-IN" sz="2800" b="0" i="0" dirty="0">
                <a:solidFill>
                  <a:srgbClr val="0F1115"/>
                </a:solidFill>
                <a:effectLst/>
                <a:latin typeface="quote-cjk-patch"/>
              </a:rPr>
              <a:t>A farmer records the weekly weight of harvested apples (kg):</a:t>
            </a:r>
          </a:p>
          <a:p>
            <a:pPr algn="l"/>
            <a:r>
              <a:rPr lang="en-IN" sz="2800" b="0" i="0" dirty="0">
                <a:solidFill>
                  <a:srgbClr val="0F1115"/>
                </a:solidFill>
                <a:effectLst/>
                <a:latin typeface="KaTeX_Main"/>
              </a:rPr>
              <a:t>[100,105,98,110,120] </a:t>
            </a:r>
          </a:p>
        </p:txBody>
      </p:sp>
    </p:spTree>
    <p:extLst>
      <p:ext uri="{BB962C8B-B14F-4D97-AF65-F5344CB8AC3E}">
        <p14:creationId xmlns:p14="http://schemas.microsoft.com/office/powerpoint/2010/main" val="205316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3F2F-2D0D-4852-9C5D-D71DA277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-685800"/>
            <a:ext cx="8724900" cy="4267200"/>
          </a:xfrm>
        </p:spPr>
        <p:txBody>
          <a:bodyPr>
            <a:normAutofit/>
          </a:bodyPr>
          <a:lstStyle/>
          <a:p>
            <a:r>
              <a:rPr lang="en-IN" sz="4400" b="1" i="0" dirty="0">
                <a:solidFill>
                  <a:srgbClr val="0F1115"/>
                </a:solidFill>
                <a:effectLst/>
                <a:latin typeface="quote-cjk-patch"/>
              </a:rPr>
              <a:t>Find the range</a:t>
            </a:r>
            <a:br>
              <a:rPr lang="en-IN" sz="4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Range=Maximum−Minimum</a:t>
            </a:r>
            <a:br>
              <a:rPr lang="en-IN" sz="3200" dirty="0">
                <a:solidFill>
                  <a:srgbClr val="0F1115"/>
                </a:solidFill>
                <a:latin typeface="KaTeX_Main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Maximum=120 </a:t>
            </a:r>
            <a:b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Minimum=98 </a:t>
            </a:r>
            <a:b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Range=120−98</a:t>
            </a:r>
            <a:b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=22 kg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BAE86-4422-4789-8D69-8533609B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3733800"/>
            <a:ext cx="8229600" cy="4144963"/>
          </a:xfrm>
        </p:spPr>
        <p:txBody>
          <a:bodyPr/>
          <a:lstStyle/>
          <a:p>
            <a:r>
              <a:rPr lang="en-IN" dirty="0"/>
              <a:t>                          </a:t>
            </a:r>
            <a:r>
              <a:rPr lang="en-IN" sz="3600" dirty="0"/>
              <a:t>QUESTION 9 </a:t>
            </a:r>
          </a:p>
          <a:p>
            <a:pPr marL="0" indent="0" algn="l">
              <a:buNone/>
            </a:pPr>
            <a:endParaRPr lang="en-IN" sz="3600" dirty="0"/>
          </a:p>
          <a:p>
            <a:pPr marL="0" indent="0" algn="l">
              <a:buNone/>
            </a:pPr>
            <a:r>
              <a:rPr lang="en-US" dirty="0">
                <a:solidFill>
                  <a:srgbClr val="0F1115"/>
                </a:solidFill>
                <a:effectLst/>
                <a:latin typeface="quote-cjk-patch"/>
              </a:rPr>
              <a:t>Data set: Monthly electricity usage (in kWh) </a:t>
            </a:r>
            <a:r>
              <a:rPr lang="en-US" dirty="0">
                <a:solidFill>
                  <a:srgbClr val="0F1115"/>
                </a:solidFill>
                <a:effectLst/>
                <a:latin typeface="KaTeX_Main"/>
              </a:rPr>
              <a:t>400,  420,  390,  450,  410400,420,390,450,410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64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350D-C6F2-46CB-9D1E-91C71ACD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686800" cy="41148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Find the mean</a:t>
            </a:r>
            <a:br>
              <a:rPr lang="en-IN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n-IN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Mean=5400+420+390+450+410​ / 5</a:t>
            </a:r>
            <a:b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=414</a:t>
            </a:r>
            <a:b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200" b="0" i="1" dirty="0">
                <a:solidFill>
                  <a:srgbClr val="0F1115"/>
                </a:solidFill>
                <a:effectLst/>
                <a:latin typeface="KaTeX_Math"/>
              </a:rPr>
              <a:t>x</a:t>
            </a: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ˉ=414 kWh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4203-3AEB-496C-A7B3-25FBBF85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102" y="3657600"/>
            <a:ext cx="8229600" cy="4297363"/>
          </a:xfrm>
        </p:spPr>
        <p:txBody>
          <a:bodyPr/>
          <a:lstStyle/>
          <a:p>
            <a:pPr marL="0" indent="0">
              <a:buNone/>
            </a:pPr>
            <a:r>
              <a:rPr lang="en-IN" sz="4000" b="1" dirty="0">
                <a:solidFill>
                  <a:srgbClr val="0F1115"/>
                </a:solidFill>
                <a:latin typeface="quote-cjk-patch"/>
              </a:rPr>
              <a:t>            </a:t>
            </a:r>
            <a:r>
              <a:rPr lang="en-IN" sz="4000" b="1" dirty="0">
                <a:solidFill>
                  <a:srgbClr val="0F1115"/>
                </a:solidFill>
                <a:effectLst/>
                <a:latin typeface="quote-cjk-patch"/>
              </a:rPr>
              <a:t>Find the standard deviation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pPr marL="0" indent="0">
              <a:buNone/>
            </a:pPr>
            <a:r>
              <a:rPr lang="en-IN" dirty="0">
                <a:solidFill>
                  <a:srgbClr val="0F1115"/>
                </a:solidFill>
                <a:latin typeface="KaTeX_Size2"/>
              </a:rPr>
              <a:t>           </a:t>
            </a:r>
            <a:r>
              <a:rPr lang="en-IN" b="0" i="0" dirty="0">
                <a:solidFill>
                  <a:srgbClr val="0F1115"/>
                </a:solidFill>
                <a:effectLst/>
                <a:latin typeface="KaTeX_Size2"/>
              </a:rPr>
              <a:t>∑</a:t>
            </a:r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(</a:t>
            </a:r>
            <a:r>
              <a:rPr lang="en-IN" b="0" i="1" dirty="0">
                <a:solidFill>
                  <a:srgbClr val="0F1115"/>
                </a:solidFill>
                <a:effectLst/>
                <a:latin typeface="KaTeX_Math"/>
              </a:rPr>
              <a:t>xi</a:t>
            </a:r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​−</a:t>
            </a:r>
            <a:r>
              <a:rPr lang="en-IN" b="0" i="1" dirty="0">
                <a:solidFill>
                  <a:srgbClr val="0F1115"/>
                </a:solidFill>
                <a:effectLst/>
                <a:latin typeface="KaTeX_Math"/>
              </a:rPr>
              <a:t>x</a:t>
            </a:r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ˉ)2=196+36+576+1296+16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                            96+36=232,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                          232+576=808,</a:t>
            </a:r>
          </a:p>
          <a:p>
            <a:pPr marL="0" indent="0">
              <a:buNone/>
            </a:pPr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05750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5B04-9875-43F4-9268-799D0761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00200"/>
            <a:ext cx="7543800" cy="3200400"/>
          </a:xfrm>
        </p:spPr>
        <p:txBody>
          <a:bodyPr>
            <a:normAutofit fontScale="90000"/>
          </a:bodyPr>
          <a:lstStyle/>
          <a:p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808+1296=2104</a:t>
            </a: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2104+16=2120</a:t>
            </a: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Variance= 2120 /5-1 </a:t>
            </a: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=2120/4 </a:t>
            </a: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=530 </a:t>
            </a: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s=530 square </a:t>
            </a:r>
            <a:b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=23.02</a:t>
            </a:r>
            <a:br>
              <a:rPr lang="en-IN" sz="3600" dirty="0"/>
            </a:br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br>
              <a:rPr lang="en-IN" sz="3600" dirty="0"/>
            </a:br>
            <a:br>
              <a:rPr lang="en-IN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38454-C966-4D14-8245-08A1413FF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800601"/>
            <a:ext cx="7543800" cy="1066800"/>
          </a:xfrm>
        </p:spPr>
        <p:txBody>
          <a:bodyPr>
            <a:normAutofit/>
          </a:bodyPr>
          <a:lstStyle/>
          <a:p>
            <a:r>
              <a:rPr lang="en-US" b="0" i="0">
                <a:solidFill>
                  <a:srgbClr val="0F1115"/>
                </a:solidFill>
                <a:effectLst/>
                <a:latin typeface="KaTeX_Main"/>
              </a:rPr>
              <a:t>Mean=414, Standard Deviation≈23.02</a:t>
            </a:r>
            <a:br>
              <a:rPr lang="en-US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213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C948-BAA8-4086-8617-B339102F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8229600" cy="1143000"/>
          </a:xfrm>
        </p:spPr>
        <p:txBody>
          <a:bodyPr/>
          <a:lstStyle/>
          <a:p>
            <a:r>
              <a:rPr lang="en-IN" dirty="0"/>
              <a:t>QUESTION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DA727-B402-47D4-825C-70CB9839B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/>
          </a:bodyPr>
          <a:lstStyle/>
          <a:p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Data: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[15, 18, 20, 22, 25, 17, 19, 21]</a:t>
            </a:r>
          </a:p>
          <a:p>
            <a:endParaRPr lang="en-I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1. Mean</a:t>
            </a:r>
            <a:endParaRPr lang="en-IN" b="1" dirty="0">
              <a:solidFill>
                <a:srgbClr val="0F1115"/>
              </a:solidFill>
              <a:latin typeface="quote-cjk-patch"/>
            </a:endParaRPr>
          </a:p>
          <a:p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=815+18+20+22+25+17+19+21​/8</a:t>
            </a:r>
            <a:br>
              <a:rPr lang="en-IN" dirty="0"/>
            </a:br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=8157/8</a:t>
            </a:r>
          </a:p>
          <a:p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​=19.625 </a:t>
            </a:r>
          </a:p>
          <a:p>
            <a:r>
              <a:rPr lang="en-IN" sz="3600" dirty="0">
                <a:solidFill>
                  <a:srgbClr val="0F1115"/>
                </a:solidFill>
                <a:latin typeface="KaTeX_Main"/>
              </a:rPr>
              <a:t>2.</a:t>
            </a: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 Median</a:t>
            </a:r>
          </a:p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Even number of entries → average of middle two: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Middle two: </a:t>
            </a:r>
            <a:r>
              <a:rPr lang="en-US" b="0" dirty="0">
                <a:solidFill>
                  <a:srgbClr val="0F1115"/>
                </a:solidFill>
                <a:effectLst/>
                <a:latin typeface="KaTeX_Main"/>
              </a:rPr>
              <a:t>19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and </a:t>
            </a:r>
            <a:r>
              <a:rPr lang="en-US" b="0" dirty="0">
                <a:solidFill>
                  <a:srgbClr val="0F1115"/>
                </a:solidFill>
                <a:effectLst/>
                <a:latin typeface="KaTeX_Main"/>
              </a:rPr>
              <a:t>20</a:t>
            </a:r>
            <a:endParaRPr lang="en-IN" dirty="0">
              <a:solidFill>
                <a:srgbClr val="0F1115"/>
              </a:solidFill>
              <a:latin typeface="KaTeX_Main"/>
            </a:endParaRPr>
          </a:p>
          <a:p>
            <a:pPr marL="0" indent="0">
              <a:buNone/>
            </a:pPr>
            <a:endParaRPr lang="en-IN" b="0" i="0" dirty="0">
              <a:solidFill>
                <a:srgbClr val="0F1115"/>
              </a:solidFill>
              <a:effectLst/>
              <a:latin typeface="KaTeX_Main"/>
            </a:endParaRPr>
          </a:p>
          <a:p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52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3F7B-B42E-4E7A-880E-5FA074E7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037"/>
            <a:ext cx="8534400" cy="1173163"/>
          </a:xfrm>
        </p:spPr>
        <p:txBody>
          <a:bodyPr>
            <a:normAutofit fontScale="90000"/>
          </a:bodyPr>
          <a:lstStyle/>
          <a:p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Median=19+20/​2</a:t>
            </a:r>
            <a:b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</a:b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       =19.5 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38D90-BFEA-462D-A4D2-7AFC6837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5364162"/>
          </a:xfrm>
        </p:spPr>
        <p:txBody>
          <a:bodyPr/>
          <a:lstStyle/>
          <a:p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3. Mode</a:t>
            </a:r>
          </a:p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All values appear once →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No mode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4. Range</a:t>
            </a:r>
          </a:p>
          <a:p>
            <a:r>
              <a:rPr lang="en-IN" b="0" i="0" dirty="0">
                <a:solidFill>
                  <a:srgbClr val="0F1115"/>
                </a:solidFill>
                <a:effectLst/>
                <a:latin typeface="KaTeX_Main"/>
              </a:rPr>
              <a:t>Range=25−15=10</a:t>
            </a:r>
            <a:endParaRPr lang="en-IN" b="1" i="0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5. Standard Deviation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Step 1: Mean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b="0" dirty="0">
                <a:solidFill>
                  <a:srgbClr val="0F1115"/>
                </a:solidFill>
                <a:effectLst/>
                <a:latin typeface="KaTeX_Main"/>
              </a:rPr>
              <a:t>μ=19.625</a:t>
            </a:r>
            <a:r>
              <a:rPr lang="en-US" b="0" i="1" dirty="0">
                <a:solidFill>
                  <a:srgbClr val="0F1115"/>
                </a:solidFill>
                <a:effectLst/>
                <a:latin typeface="KaTeX_Math"/>
              </a:rPr>
              <a:t>μ</a:t>
            </a:r>
            <a:r>
              <a:rPr lang="en-US" b="0" dirty="0">
                <a:solidFill>
                  <a:srgbClr val="0F1115"/>
                </a:solidFill>
                <a:effectLst/>
                <a:latin typeface="KaTeX_Main"/>
              </a:rPr>
              <a:t>=19.625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Step 2: Deviations and squares</a:t>
            </a:r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98522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366FBF-2B72-4341-8D74-B036E8381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360248"/>
              </p:ext>
            </p:extLst>
          </p:nvPr>
        </p:nvGraphicFramePr>
        <p:xfrm>
          <a:off x="0" y="-145449"/>
          <a:ext cx="9144000" cy="700344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12809645"/>
                    </a:ext>
                  </a:extLst>
                </a:gridCol>
                <a:gridCol w="2881086">
                  <a:extLst>
                    <a:ext uri="{9D8B030D-6E8A-4147-A177-3AD203B41FA5}">
                      <a16:colId xmlns:a16="http://schemas.microsoft.com/office/drawing/2014/main" val="4184690086"/>
                    </a:ext>
                  </a:extLst>
                </a:gridCol>
                <a:gridCol w="2757714">
                  <a:extLst>
                    <a:ext uri="{9D8B030D-6E8A-4147-A177-3AD203B41FA5}">
                      <a16:colId xmlns:a16="http://schemas.microsoft.com/office/drawing/2014/main" val="392870858"/>
                    </a:ext>
                  </a:extLst>
                </a:gridCol>
              </a:tblGrid>
              <a:tr h="778161">
                <a:tc>
                  <a:txBody>
                    <a:bodyPr/>
                    <a:lstStyle/>
                    <a:p>
                      <a:pPr algn="l"/>
                      <a:r>
                        <a:rPr lang="en-IN" sz="3200" b="0" dirty="0">
                          <a:effectLst/>
                          <a:latin typeface="KaTeX_Main"/>
                        </a:rPr>
                        <a:t>x</a:t>
                      </a:r>
                      <a:r>
                        <a:rPr lang="en-IN" sz="3200" b="0" i="1" dirty="0">
                          <a:effectLst/>
                          <a:latin typeface="KaTeX_Math"/>
                        </a:rPr>
                        <a:t>x</a:t>
                      </a:r>
                      <a:endParaRPr lang="en-IN" sz="32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800" b="0" dirty="0">
                          <a:effectLst/>
                          <a:latin typeface="KaTeX_Main"/>
                        </a:rPr>
                        <a:t>x−</a:t>
                      </a:r>
                      <a:r>
                        <a:rPr lang="el-GR" sz="2800" b="0" dirty="0">
                          <a:effectLst/>
                          <a:latin typeface="KaTeX_Main"/>
                        </a:rPr>
                        <a:t>μ</a:t>
                      </a:r>
                      <a:r>
                        <a:rPr lang="en-IN" sz="2800" b="0" i="1" dirty="0">
                          <a:effectLst/>
                          <a:latin typeface="KaTeX_Math"/>
                        </a:rPr>
                        <a:t>x</a:t>
                      </a:r>
                      <a:r>
                        <a:rPr lang="en-IN" sz="2800" b="0" dirty="0">
                          <a:effectLst/>
                          <a:latin typeface="KaTeX_Main"/>
                        </a:rPr>
                        <a:t>−</a:t>
                      </a:r>
                      <a:r>
                        <a:rPr lang="el-GR" sz="2800" b="0" i="1" dirty="0">
                          <a:effectLst/>
                          <a:latin typeface="KaTeX_Math"/>
                        </a:rPr>
                        <a:t>μ</a:t>
                      </a:r>
                      <a:endParaRPr lang="el-GR" sz="28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2800" b="0" dirty="0">
                          <a:effectLst/>
                          <a:latin typeface="KaTeX_Main"/>
                        </a:rPr>
                        <a:t>(x−μ)2(</a:t>
                      </a:r>
                      <a:r>
                        <a:rPr lang="el-GR" sz="2800" b="0" i="1" dirty="0">
                          <a:effectLst/>
                          <a:latin typeface="KaTeX_Math"/>
                        </a:rPr>
                        <a:t>x</a:t>
                      </a:r>
                      <a:r>
                        <a:rPr lang="el-GR" sz="2800" b="0" dirty="0">
                          <a:effectLst/>
                          <a:latin typeface="KaTeX_Main"/>
                        </a:rPr>
                        <a:t>−</a:t>
                      </a:r>
                      <a:r>
                        <a:rPr lang="el-GR" sz="2800" b="0" i="1" dirty="0">
                          <a:effectLst/>
                          <a:latin typeface="KaTeX_Math"/>
                        </a:rPr>
                        <a:t>μ</a:t>
                      </a:r>
                      <a:r>
                        <a:rPr lang="el-GR" sz="2800" b="0" dirty="0">
                          <a:effectLst/>
                          <a:latin typeface="KaTeX_Main"/>
                        </a:rPr>
                        <a:t>)2</a:t>
                      </a:r>
                      <a:endParaRPr lang="el-GR" sz="28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509893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15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-4.625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21.390625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642900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17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-2.625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6.890625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661159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18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-1.625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2.640625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673785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19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-0.625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0.390625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613982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20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0.375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0.140625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997378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21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1.375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1.890625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903978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2.375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5.640625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91803"/>
                  </a:ext>
                </a:extLst>
              </a:tr>
              <a:tr h="778161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25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5.375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28.890625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59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101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34704-CB0D-4BC1-9431-2FB2F5BCF432}"/>
              </a:ext>
            </a:extLst>
          </p:cNvPr>
          <p:cNvSpPr txBox="1"/>
          <p:nvPr/>
        </p:nvSpPr>
        <p:spPr>
          <a:xfrm>
            <a:off x="457200" y="381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dirty="0">
                <a:solidFill>
                  <a:srgbClr val="0F1115"/>
                </a:solidFill>
                <a:effectLst/>
                <a:latin typeface="quote-cjk-patch"/>
              </a:rPr>
              <a:t>Variance (population)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05E26-580D-4030-8C2A-D2B4E93DE4EF}"/>
              </a:ext>
            </a:extLst>
          </p:cNvPr>
          <p:cNvSpPr txBox="1"/>
          <p:nvPr/>
        </p:nvSpPr>
        <p:spPr>
          <a:xfrm>
            <a:off x="2438400" y="1027331"/>
            <a:ext cx="495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200" b="0" i="1" dirty="0">
                <a:solidFill>
                  <a:srgbClr val="0F1115"/>
                </a:solidFill>
                <a:effectLst/>
                <a:latin typeface="KaTeX_Math"/>
              </a:rPr>
              <a:t>σ</a:t>
            </a:r>
            <a:r>
              <a:rPr lang="el-GR" sz="3200" b="0" i="0" dirty="0">
                <a:solidFill>
                  <a:srgbClr val="0F1115"/>
                </a:solidFill>
                <a:effectLst/>
                <a:latin typeface="KaTeX_Main"/>
              </a:rPr>
              <a:t>2=67.875</a:t>
            </a:r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/8</a:t>
            </a:r>
          </a:p>
          <a:p>
            <a:r>
              <a:rPr lang="en-IN" sz="3200" b="0" i="0" dirty="0">
                <a:solidFill>
                  <a:srgbClr val="0F1115"/>
                </a:solidFill>
                <a:effectLst/>
                <a:latin typeface="KaTeX_Main"/>
              </a:rPr>
              <a:t>=8.484375</a:t>
            </a:r>
            <a:r>
              <a:rPr lang="el-GR" sz="3200" b="0" i="0" dirty="0">
                <a:solidFill>
                  <a:srgbClr val="0F1115"/>
                </a:solidFill>
                <a:effectLst/>
                <a:latin typeface="KaTeX_Main"/>
              </a:rPr>
              <a:t>​</a:t>
            </a:r>
            <a:br>
              <a:rPr lang="el-GR" sz="3200" dirty="0"/>
            </a:b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DBFFE-0AC1-42C6-83E5-DF285EF1D4B7}"/>
              </a:ext>
            </a:extLst>
          </p:cNvPr>
          <p:cNvSpPr txBox="1"/>
          <p:nvPr/>
        </p:nvSpPr>
        <p:spPr>
          <a:xfrm>
            <a:off x="474785" y="2412325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dirty="0">
                <a:solidFill>
                  <a:srgbClr val="0F1115"/>
                </a:solidFill>
                <a:effectLst/>
                <a:latin typeface="quote-cjk-patch"/>
              </a:rPr>
              <a:t>Standard deviation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B79D-CB53-4D36-B5AA-A4768DDAB57C}"/>
              </a:ext>
            </a:extLst>
          </p:cNvPr>
          <p:cNvSpPr txBox="1"/>
          <p:nvPr/>
        </p:nvSpPr>
        <p:spPr>
          <a:xfrm>
            <a:off x="2286000" y="324433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200" b="0" i="1" dirty="0">
                <a:solidFill>
                  <a:srgbClr val="0F1115"/>
                </a:solidFill>
                <a:effectLst/>
                <a:latin typeface="KaTeX_Math"/>
              </a:rPr>
              <a:t>σ</a:t>
            </a:r>
            <a:r>
              <a:rPr lang="el-GR" sz="3200" b="0" i="0" dirty="0">
                <a:solidFill>
                  <a:srgbClr val="0F1115"/>
                </a:solidFill>
                <a:effectLst/>
                <a:latin typeface="KaTeX_Main"/>
              </a:rPr>
              <a:t>=8.484375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0F288-6FE9-43DD-99DA-56D6702F7953}"/>
              </a:ext>
            </a:extLst>
          </p:cNvPr>
          <p:cNvSpPr txBox="1"/>
          <p:nvPr/>
        </p:nvSpPr>
        <p:spPr>
          <a:xfrm>
            <a:off x="2438400" y="3803181"/>
            <a:ext cx="5145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0F1115"/>
                </a:solidFill>
                <a:effectLst/>
                <a:latin typeface="KaTeX_Main"/>
              </a:rPr>
              <a:t>=2.912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9259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549</Words>
  <Application>Microsoft Office PowerPoint</Application>
  <PresentationFormat>On-screen Show (4:3)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Google Sans Flex</vt:lpstr>
      <vt:lpstr>KaTeX_Main</vt:lpstr>
      <vt:lpstr>KaTeX_Math</vt:lpstr>
      <vt:lpstr>KaTeX_Size2</vt:lpstr>
      <vt:lpstr>quote-cjk-patch</vt:lpstr>
      <vt:lpstr>Office Theme</vt:lpstr>
      <vt:lpstr>SOLUTION   QUESTION 1                                                    </vt:lpstr>
      <vt:lpstr>QUESTION 2 </vt:lpstr>
      <vt:lpstr>PowerPoint Presentation</vt:lpstr>
      <vt:lpstr>QUESTION 5</vt:lpstr>
      <vt:lpstr>Find the range Range=Maximum−Minimum Maximum=120  Minimum=98  Range=120−98 =22 kg</vt:lpstr>
      <vt:lpstr>Find the mean  Mean=5400+420+390+450+410​ / 5 =414 xˉ=414 kWh </vt:lpstr>
      <vt:lpstr>808+1296=2104 2104+16=2120 Variance= 2120 /5-1  =2120/4  =530   s=530 square  =23.02 ​  </vt:lpstr>
      <vt:lpstr>QUESTION 10</vt:lpstr>
      <vt:lpstr>Median=19+20/​2        =19.5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guys ,</dc:title>
  <dc:creator>user</dc:creator>
  <cp:lastModifiedBy>varsha asawara</cp:lastModifiedBy>
  <cp:revision>45</cp:revision>
  <dcterms:created xsi:type="dcterms:W3CDTF">2006-08-16T00:00:00Z</dcterms:created>
  <dcterms:modified xsi:type="dcterms:W3CDTF">2026-05-10T09:07:44Z</dcterms:modified>
</cp:coreProperties>
</file>